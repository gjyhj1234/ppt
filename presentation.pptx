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28000" y="0"/>
            <a:ext cx="3564000" cy="7560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396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90000"/>
            <a:ext cx="5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DDFF"/>
                </a:solidFill>
                <a:latin typeface="Microsoft YaHei"/>
              </a:rPr>
              <a:t>轻松牙医 · 松佰供应链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12000" y="90000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AACC"/>
                </a:solidFill>
                <a:latin typeface="Microsoft YaHei"/>
              </a:rPr>
              <a:t>1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512000"/>
            <a:ext cx="106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CC"/>
                </a:solidFill>
                <a:latin typeface="Microsoft YaHei"/>
              </a:rPr>
              <a:t>STRATEGIC PARTNERSHIP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872000"/>
            <a:ext cx="106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Microsoft YaHei"/>
              </a:rPr>
              <a:t>携手共赢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592000"/>
            <a:ext cx="10692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DD3F7"/>
                </a:solidFill>
                <a:latin typeface="Microsoft YaHei"/>
              </a:rPr>
              <a:t>共启口腔新局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6000" y="3348000"/>
            <a:ext cx="2160000" cy="7200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3492000"/>
            <a:ext cx="106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DEEFF"/>
                </a:solidFill>
                <a:latin typeface="Microsoft YaHei"/>
              </a:rPr>
              <a:t>松佰供应链战略合作推广提案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6000" y="5328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  <a:latin typeface="Microsoft YaHei"/>
              </a:rPr>
              <a:t>演讲人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6000" y="558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DEEFF"/>
                </a:solidFill>
                <a:latin typeface="Microsoft YaHei"/>
              </a:rPr>
              <a:t>轻松牙医软件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6000" y="5328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  <a:latin typeface="Microsoft YaHei"/>
              </a:rPr>
              <a:t>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6000" y="558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DEEFF"/>
                </a:solidFill>
                <a:latin typeface="Microsoft YaHei"/>
              </a:rPr>
              <a:t>供应链合作推广方案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6000" y="5328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99AA"/>
                </a:solidFill>
                <a:latin typeface="Microsoft YaHei"/>
              </a:rPr>
              <a:t>会议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6000" y="558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DEEFF"/>
                </a:solidFill>
                <a:latin typeface="Microsoft YaHei"/>
              </a:rPr>
              <a:t>集团总经理会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7272000"/>
            <a:ext cx="5346000" cy="288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6000" y="7272000"/>
            <a:ext cx="5346000" cy="288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000" y="73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ACC"/>
                </a:solidFill>
                <a:latin typeface="Microsoft YaHei"/>
              </a:rPr>
              <a:t>严格保密 · 仅供内部使用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90000"/>
            <a:ext cx="5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轻松牙医 · 松佰供应链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2000" y="90000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D9EE"/>
                </a:solidFill>
                <a:latin typeface="Microsoft YaHei"/>
              </a:rPr>
              <a:t>2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46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Microsoft YaHei"/>
              </a:rPr>
              <a:t>门诊换软件的四大驱动力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6000" y="522000"/>
            <a:ext cx="360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A9C"/>
                </a:solidFill>
                <a:latin typeface="Microsoft YaHei"/>
              </a:rPr>
              <a:t>— 为什么现在是最好的切入时机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00" y="864000"/>
            <a:ext cx="2232000" cy="4248000"/>
          </a:xfrm>
          <a:prstGeom prst="rect">
            <a:avLst/>
          </a:prstGeom>
          <a:solidFill>
            <a:srgbClr val="FFF5F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000" y="864000"/>
            <a:ext cx="2232000" cy="72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000" y="1008000"/>
            <a:ext cx="20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监管合规压力加剧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000" y="1368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医疗专项检查持续列为年度重点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000" y="223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医保稽查随时启动，历史数据均在审查范围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000" y="3096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税务核查力度加强，历史账目须经得起核验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000" y="396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数据合规问题或引发补税、罚款乃至刑事风险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42000" y="864000"/>
            <a:ext cx="2232000" cy="4248000"/>
          </a:xfrm>
          <a:prstGeom prst="rect">
            <a:avLst/>
          </a:prstGeom>
          <a:solidFill>
            <a:srgbClr val="FFF8EE"/>
          </a:solidFill>
          <a:ln w="635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42000" y="864000"/>
            <a:ext cx="2232000" cy="72000"/>
          </a:xfrm>
          <a:prstGeom prst="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0000" y="1008000"/>
            <a:ext cx="20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数据安全隐患频现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2000" y="1368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现有软件数据不在门诊自己手中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2000" y="223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患者信息泄露事件行业内频繁发生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2000" y="3096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SaaS厂商因亏损加剧存在倒闭、跑路风险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2000" y="396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一旦厂商停运，门诊历史数据面临永久丢失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8000" y="864000"/>
            <a:ext cx="2232000" cy="4248000"/>
          </a:xfrm>
          <a:prstGeom prst="rect">
            <a:avLst/>
          </a:prstGeom>
          <a:solidFill>
            <a:srgbClr val="F0F7FF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8000" y="864000"/>
            <a:ext cx="2232000" cy="72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6000" y="1008000"/>
            <a:ext cx="20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供应链迟早被他人截走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8000" y="1368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现有封闭软件无法对接外部供应链系统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98000" y="223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不换软件，订单数据永远留在竞对平台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8000" y="3096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门诊采购渠道一旦被锁定，流失风险极高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8000" y="396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先布局者占据先机，晚行动则拱手相让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4000" y="864000"/>
            <a:ext cx="2232000" cy="4248000"/>
          </a:xfrm>
          <a:prstGeom prst="rect">
            <a:avLst/>
          </a:prstGeom>
          <a:solidFill>
            <a:srgbClr val="F0FAF8"/>
          </a:solidFill>
          <a:ln w="63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94000" y="864000"/>
            <a:ext cx="2232000" cy="72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2000" y="1008000"/>
            <a:ext cx="201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年费模式负担持续上升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4000" y="1368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主流软件每年收取年费，成本逐年攀升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4000" y="2232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续费涨价已成行业惯例，门诊叫苦不迭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4000" y="3096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年费到期即停用，数据取回难度大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4000" y="3960000"/>
            <a:ext cx="1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· 转换窗口稍纵即逝，越早行动阻力越小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000" y="5328000"/>
            <a:ext cx="96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A9C"/>
                </a:solidFill>
                <a:latin typeface="Microsoft YaHei"/>
              </a:rPr>
              <a:t>结论：门诊更换软件的外部驱动力正在快速聚集，合规压力与成本压力双重叠加，现在是与门诊建立合作的最佳窗口期。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7272000"/>
            <a:ext cx="5346000" cy="28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46000" y="7272000"/>
            <a:ext cx="5346000" cy="28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000" y="73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E8E5"/>
                </a:solidFill>
                <a:latin typeface="Microsoft YaHei"/>
              </a:rPr>
              <a:t>严格保密 · 仅供内部使用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90000"/>
            <a:ext cx="5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轻松牙医 · 松佰供应链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2000" y="90000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D9EE"/>
                </a:solidFill>
                <a:latin typeface="Microsoft YaHei"/>
              </a:rPr>
              <a:t>3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468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97B"/>
                </a:solidFill>
                <a:latin typeface="Microsoft YaHei"/>
              </a:rPr>
              <a:t>轻松牙医的六大核心优势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8000" y="522000"/>
            <a:ext cx="360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A9C"/>
                </a:solidFill>
                <a:latin typeface="Microsoft YaHei"/>
              </a:rPr>
              <a:t>— 让门诊换得安心、用得放心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000" y="900000"/>
            <a:ext cx="3132000" cy="3150000"/>
          </a:xfrm>
          <a:prstGeom prst="rect">
            <a:avLst/>
          </a:prstGeom>
          <a:solidFill>
            <a:srgbClr val="E3F0FF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" y="1008000"/>
            <a:ext cx="216000" cy="216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00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008000"/>
            <a:ext cx="26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数据完全自主，安全可控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1332000"/>
            <a:ext cx="2916000" cy="2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支持本地化私有部署，数据存储于门诊自己的服务器，任何第三方无法擅自调取或泄露患者信息。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" y="3762000"/>
            <a:ext cx="2916000" cy="21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3762000"/>
            <a:ext cx="29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私有化部署 · 本地存储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0000" y="900000"/>
            <a:ext cx="3132000" cy="315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8000" y="1008000"/>
            <a:ext cx="216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8000" y="100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6000" y="1008000"/>
            <a:ext cx="26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历经三代迭代，功能与主流竞品看齐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8000" y="1332000"/>
            <a:ext cx="2916000" cy="2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轻松牙医已完成三个版本的重大升级，功能覆盖与市面主流软件对标，核心业务场景全面支持，并持续迭代。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8000" y="3762000"/>
            <a:ext cx="2916000" cy="21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8000" y="3762000"/>
            <a:ext cx="29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三代升级 · 持续演进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6000" y="900000"/>
            <a:ext cx="3132000" cy="315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64000" y="1008000"/>
            <a:ext cx="216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4000" y="1008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000" y="1008000"/>
            <a:ext cx="26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合规数据管理，有效应对审查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4000" y="1332000"/>
            <a:ext cx="2916000" cy="2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支持数据按年份、项目、科目切割，自动对齐财务账目，分数库管理，助力门诊从容应对医保稽查与税务核查。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64000" y="3762000"/>
            <a:ext cx="2916000" cy="21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64000" y="3762000"/>
            <a:ext cx="29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分年管理 · 财务对齐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" y="4194000"/>
            <a:ext cx="3132000" cy="315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000" y="4302000"/>
            <a:ext cx="216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000" y="4302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" y="4302000"/>
            <a:ext cx="26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灵活定制，满足大连锁及公立医院需求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000" y="4626000"/>
            <a:ext cx="2916000" cy="2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提供深度定制化开发服务，大型连锁门诊或公立医院可依据自身业务场景，定制专属功能模块与数据字段。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" y="7056000"/>
            <a:ext cx="2916000" cy="21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000" y="7056000"/>
            <a:ext cx="29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数据化定制 · 企业级扩展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80000" y="4194000"/>
            <a:ext cx="3132000" cy="3150000"/>
          </a:xfrm>
          <a:prstGeom prst="rect">
            <a:avLst/>
          </a:prstGeom>
          <a:solidFill>
            <a:srgbClr val="E3F0FF"/>
          </a:solidFill>
          <a:ln w="9525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8000" y="4302000"/>
            <a:ext cx="216000" cy="216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88000" y="4302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6000" y="4302000"/>
            <a:ext cx="26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历史数据无缝迁移，零感知切换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8000" y="4626000"/>
            <a:ext cx="2916000" cy="2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支持将原有软件历史数据完整导入，门诊无需重新录入，配合三套皮肤主题，切换过渡体验顺畅自然。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88000" y="7056000"/>
            <a:ext cx="2916000" cy="21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8000" y="7056000"/>
            <a:ext cx="29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数据迁移 · 三套皮肤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6000" y="4194000"/>
            <a:ext cx="3132000" cy="315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64000" y="4302000"/>
            <a:ext cx="216000" cy="21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64000" y="4302000"/>
            <a:ext cx="2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000" y="4302000"/>
            <a:ext cx="26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一次购买，终身使用，无年费负担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000" y="4626000"/>
            <a:ext cx="2916000" cy="23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本地授权模式，一次性购买永久使用权，告别年费焦虑，显著降低门诊长期运营成本，财务可预期。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4000" y="7056000"/>
            <a:ext cx="2916000" cy="21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64000" y="7056000"/>
            <a:ext cx="291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买断制 · 零年费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7272000"/>
            <a:ext cx="5346000" cy="28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46000" y="7272000"/>
            <a:ext cx="5346000" cy="28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000" y="73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E8E5"/>
                </a:solidFill>
                <a:latin typeface="Microsoft YaHei"/>
              </a:rPr>
              <a:t>严格保密 · 仅供内部使用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90000"/>
            <a:ext cx="5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轻松牙医 · 松佰供应链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2000" y="90000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D9EE"/>
                </a:solidFill>
                <a:latin typeface="Microsoft YaHei"/>
              </a:rPr>
              <a:t>4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468000"/>
            <a:ext cx="968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Microsoft YaHei"/>
              </a:rPr>
              <a:t>四步推广方案 — 我们如何携手落地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900000"/>
            <a:ext cx="2205000" cy="486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" y="1008000"/>
            <a:ext cx="1989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7A9C"/>
                </a:solidFill>
                <a:latin typeface="Microsoft YaHei"/>
              </a:rPr>
              <a:t>STEP 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000" y="1260000"/>
            <a:ext cx="360000" cy="360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2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565C0"/>
                </a:solidFill>
                <a:latin typeface="Microsoft YaHe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692000"/>
            <a:ext cx="1989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精准拜访，建立心锚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088000"/>
            <a:ext cx="1989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锁定目标门诊，由我方与供应商联合上门拜访。重点介绍合规风险与数据安全议题，在门诊负责人心中埋下'风险预警'的认知锚点——让他们在监管压力来临时第一时间想到我们的解决方案。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" y="5256000"/>
            <a:ext cx="1989000" cy="39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5256000"/>
            <a:ext cx="1989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Microsoft YaHei"/>
              </a:rPr>
              <a:t>我方可配合出席拜访，提供话术与演示支持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3000" y="3186000"/>
            <a:ext cx="1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CFE0"/>
                </a:solidFill>
                <a:latin typeface="Microsoft YaHe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7000" y="900000"/>
            <a:ext cx="2205000" cy="486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5000" y="1008000"/>
            <a:ext cx="1989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7A9C"/>
                </a:solidFill>
                <a:latin typeface="Microsoft YaHei"/>
              </a:rPr>
              <a:t>STEP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5000" y="1260000"/>
            <a:ext cx="360000" cy="36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5000" y="12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B8C00"/>
                </a:solidFill>
                <a:latin typeface="Microsoft YaHe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5000" y="1692000"/>
            <a:ext cx="1989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组建本地团队，共担成本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5000" y="2088000"/>
            <a:ext cx="1989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可在当地招聘或培养专职业务人员，负责持续跟进目标客户。双方按50%比例共担人员成本，以不亏损为基本原则，确保双方可持续推进，降低各自的投入风险。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5000" y="5256000"/>
            <a:ext cx="1989000" cy="39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5000" y="5256000"/>
            <a:ext cx="1989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B8C00"/>
                </a:solidFill>
                <a:latin typeface="Microsoft YaHei"/>
              </a:rPr>
              <a:t>成本共担 50%，风险均摊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6000" y="3186000"/>
            <a:ext cx="1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CFE0"/>
                </a:solidFill>
                <a:latin typeface="Microsoft YaHe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0000" y="900000"/>
            <a:ext cx="2205000" cy="486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8000" y="1008000"/>
            <a:ext cx="1989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7A9C"/>
                </a:solidFill>
                <a:latin typeface="Microsoft YaHei"/>
              </a:rPr>
              <a:t>STEP 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8000" y="1260000"/>
            <a:ext cx="360000" cy="36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98000" y="12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  <a:latin typeface="Microsoft Ya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8000" y="1692000"/>
            <a:ext cx="1989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软件推广，灵活定价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8000" y="2088000"/>
            <a:ext cx="1989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提供两种合作方式：
① 折扣进货：以五折价格进货，自行销售赚取差价；
② 免费铺设+提成：免费为门诊部署，按门诊年使用额1%提成，每家门诊每年封顶5,000元。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98000" y="5256000"/>
            <a:ext cx="1989000" cy="39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8000" y="5256000"/>
            <a:ext cx="1989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Microsoft YaHei"/>
              </a:rPr>
              <a:t>五折进货 或 1% 提成（封顶5,000元/年）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9000" y="3186000"/>
            <a:ext cx="1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0CFE0"/>
                </a:solidFill>
                <a:latin typeface="Microsoft YaHe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3000" y="900000"/>
            <a:ext cx="2205000" cy="4860000"/>
          </a:xfrm>
          <a:prstGeom prst="rect">
            <a:avLst/>
          </a:prstGeom>
          <a:solidFill>
            <a:srgbClr val="F7FAFF"/>
          </a:solidFill>
          <a:ln w="9525">
            <a:solidFill>
              <a:srgbClr val="D0D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1000" y="1008000"/>
            <a:ext cx="1989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C7A9C"/>
                </a:solidFill>
                <a:latin typeface="Microsoft YaHei"/>
              </a:rPr>
              <a:t>STEP 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1000" y="1260000"/>
            <a:ext cx="360000" cy="360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1000" y="1260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62828"/>
                </a:solidFill>
                <a:latin typeface="Microsoft Ya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1000" y="1692000"/>
            <a:ext cx="1989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40"/>
                </a:solidFill>
                <a:latin typeface="Microsoft YaHei"/>
              </a:rPr>
              <a:t>供应链激活，拉动首单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1000" y="2088000"/>
            <a:ext cx="1989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门诊上线供应链后，以'首单1元'的活动策略激励客户完成第一笔下单。一方面清理门诊旧库存，另一方面迅速让客户熟悉采购流程，建立使用习惯，加速复购转化。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1000" y="5256000"/>
            <a:ext cx="1989000" cy="3960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1000" y="5256000"/>
            <a:ext cx="1989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Microsoft YaHei"/>
              </a:rPr>
              <a:t>首单 1 元激活 · 清库存 · 建习惯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7272000"/>
            <a:ext cx="5346000" cy="28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46000" y="7272000"/>
            <a:ext cx="5346000" cy="28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000" y="73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E8E5"/>
                </a:solidFill>
                <a:latin typeface="Microsoft YaHei"/>
              </a:rPr>
              <a:t>严格保密 · 仅供内部使用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4000" y="90000"/>
            <a:ext cx="5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轻松牙医 · 松佰供应链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2000" y="90000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D9EE"/>
                </a:solidFill>
                <a:latin typeface="Microsoft YaHei"/>
              </a:rPr>
              <a:t>5 /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000" y="468000"/>
            <a:ext cx="46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97B"/>
                </a:solidFill>
                <a:latin typeface="Microsoft YaHei"/>
              </a:rPr>
              <a:t>松佰供应链的核心价值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8000" y="522000"/>
            <a:ext cx="360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A9C"/>
                </a:solidFill>
                <a:latin typeface="Microsoft YaHei"/>
              </a:rPr>
              <a:t>— 软件 + 供应链深度融合，打造持续竞争壁垒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00000"/>
            <a:ext cx="3180000" cy="3132000"/>
          </a:xfrm>
          <a:prstGeom prst="rect">
            <a:avLst/>
          </a:prstGeom>
          <a:solidFill>
            <a:srgbClr val="F0F9F8"/>
          </a:solidFill>
          <a:ln w="9525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008000"/>
            <a:ext cx="29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实时库存感知，精准营销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32000"/>
            <a:ext cx="29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软件与供应链数据打通后，可实时掌握每家门诊的库存状态。结合消费历史与使用周期，构建立体用户画像，精准推送补货建议，显著提升客单频次。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6000" y="900000"/>
            <a:ext cx="3180000" cy="3132000"/>
          </a:xfrm>
          <a:prstGeom prst="rect">
            <a:avLst/>
          </a:prstGeom>
          <a:solidFill>
            <a:srgbClr val="F0F7FF"/>
          </a:solidFill>
          <a:ln w="9525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4000" y="1008000"/>
            <a:ext cx="29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AI 智能定价与商品推荐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4000" y="1332000"/>
            <a:ext cx="29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上传历史订单与价格数据后，AI 自动生成建议定价与关联商品推荐，帮助供应商在不同场景下实现动态定价，提升利润空间与上架效率。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0000" y="900000"/>
            <a:ext cx="3180000" cy="3132000"/>
          </a:xfrm>
          <a:prstGeom prst="rect">
            <a:avLst/>
          </a:prstGeom>
          <a:solidFill>
            <a:srgbClr val="E8F5E9"/>
          </a:solidFill>
          <a:ln w="9525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8000" y="1008000"/>
            <a:ext cx="29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一键下单，一键入库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8000" y="1332000"/>
            <a:ext cx="29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软件与供应链系统全面打通，门诊可直接在软件内一键下单至供应链端；到货后扫码或确认即完成一键入库，采购全程无纸化，彻底告别手工记账。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176000"/>
            <a:ext cx="3180000" cy="3132000"/>
          </a:xfrm>
          <a:prstGeom prst="rect">
            <a:avLst/>
          </a:prstGeom>
          <a:solidFill>
            <a:srgbClr val="FFFDE7"/>
          </a:solidFill>
          <a:ln w="9525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4284000"/>
            <a:ext cx="29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持续黏性，提升复购率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4608000"/>
            <a:ext cx="29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软件与供应链一体化构成天然闭环，门诊日常使用软件即可完成采购。深度绑定场景使客户难以流失，月均活跃度与复购率均得到有效提升。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56000" y="4176000"/>
            <a:ext cx="3180000" cy="3132000"/>
          </a:xfrm>
          <a:prstGeom prst="rect">
            <a:avLst/>
          </a:prstGeom>
          <a:solidFill>
            <a:srgbClr val="FCE4EC"/>
          </a:solidFill>
          <a:ln w="9525">
            <a:solidFill>
              <a:srgbClr val="F48F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4000" y="4284000"/>
            <a:ext cx="29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数据主权，拒绝被平台绑架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4000" y="4608000"/>
            <a:ext cx="29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门诊数据完全归属门诊本身，供应商和轻松牙医均以合规权限共享洞察，而非单向掌控。透明可信赖的数据治理模式是赢得大型门诊客户信任的关键。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0000" y="4176000"/>
            <a:ext cx="3180000" cy="3132000"/>
          </a:xfrm>
          <a:prstGeom prst="rect">
            <a:avLst/>
          </a:prstGeom>
          <a:solidFill>
            <a:srgbClr val="F3E5F5"/>
          </a:solidFill>
          <a:ln w="9525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8000" y="4284000"/>
            <a:ext cx="296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40"/>
                </a:solidFill>
                <a:latin typeface="Microsoft YaHei"/>
              </a:rPr>
              <a:t>合规录入，百倍提效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8000" y="4608000"/>
            <a:ext cx="29640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4569"/>
                </a:solidFill>
                <a:latin typeface="Microsoft YaHei"/>
              </a:rPr>
              <a:t>国家要求库房系统记录生产批准文号、批次号、有效期等完整信息，传统手录耗时极长。接入松佰供应链后，商品分类、品名及三证资料自动同步至门诊端，录入效率提升百倍，彻底解放库管人员。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7272000"/>
            <a:ext cx="5346000" cy="28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6000" y="7272000"/>
            <a:ext cx="5346000" cy="28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" y="73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E8E5"/>
                </a:solidFill>
                <a:latin typeface="Microsoft YaHei"/>
              </a:rPr>
              <a:t>严格保密 · 仅供内部使用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46000" y="0"/>
            <a:ext cx="5346000" cy="7560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396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4000" y="90000"/>
            <a:ext cx="5040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DDFF"/>
                </a:solidFill>
                <a:latin typeface="Microsoft YaHei"/>
              </a:rPr>
              <a:t>轻松牙医 · 松佰供应链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12000" y="90000"/>
            <a:ext cx="792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AACC"/>
                </a:solidFill>
                <a:latin typeface="Microsoft YaHei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68000"/>
            <a:ext cx="106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BBCC"/>
                </a:solidFill>
                <a:latin typeface="Microsoft YaHei"/>
              </a:rPr>
              <a:t>PROFIT SHARING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720000"/>
            <a:ext cx="106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三方共赢 · 利益清晰可期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16000"/>
            <a:ext cx="1069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DD3F7"/>
                </a:solidFill>
                <a:latin typeface="Microsoft YaHei"/>
              </a:rPr>
              <a:t>分润模式一览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6000" y="1512000"/>
            <a:ext cx="1800000" cy="7200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4000" y="1692000"/>
            <a:ext cx="3036000" cy="3960000"/>
          </a:xfrm>
          <a:prstGeom prst="rect">
            <a:avLst/>
          </a:prstGeom>
          <a:solidFill>
            <a:srgbClr val="1A4A7E"/>
          </a:solidFill>
          <a:ln w="9525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1836000"/>
            <a:ext cx="27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DD3F7"/>
                </a:solidFill>
                <a:latin typeface="Microsoft YaHei"/>
              </a:rPr>
              <a:t>供应商公司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232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打通门诊软件，直接触达终端采购决策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024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供应链商城上线后，订单量持续增长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3816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AI 推荐提升客单价，精准营销降低获客成本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608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门诊黏性提升，老客户流失率显著降低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28000" y="1692000"/>
            <a:ext cx="3036000" cy="3960000"/>
          </a:xfrm>
          <a:prstGeom prst="rect">
            <a:avLst/>
          </a:prstGeom>
          <a:solidFill>
            <a:srgbClr val="1A4A7E"/>
          </a:solidFill>
          <a:ln w="9525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2000" y="1836000"/>
            <a:ext cx="27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2F5EA"/>
                </a:solidFill>
                <a:latin typeface="Microsoft YaHei"/>
              </a:rPr>
              <a:t>推广人员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2000" y="2232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软件销售差价（进货价五折，零售价自定）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2000" y="3024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免费铺设模式：年均提成 1%，封顶 5,000 元 / 门诊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2000" y="3816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供应链订单持续产生被动收益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2000" y="4608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人员成本 50% 由双方分担，个人利润有保障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2000" y="1692000"/>
            <a:ext cx="3036000" cy="3960000"/>
          </a:xfrm>
          <a:prstGeom prst="rect">
            <a:avLst/>
          </a:prstGeom>
          <a:solidFill>
            <a:srgbClr val="1A4A7E"/>
          </a:solidFill>
          <a:ln w="9525">
            <a:solidFill>
              <a:srgbClr val="44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000" y="1836000"/>
            <a:ext cx="27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E082"/>
                </a:solidFill>
                <a:latin typeface="Microsoft YaHei"/>
              </a:rPr>
              <a:t>轻松牙医软件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000" y="2232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软件装机量快速扩大，品牌影响力持续提升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000" y="3024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供应链平台交易量增长，获取平台服务收益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000" y="3816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借助供应商渠道快速覆盖区域市场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000" y="4608000"/>
            <a:ext cx="27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DEEFF"/>
                </a:solidFill>
                <a:latin typeface="Microsoft YaHei"/>
              </a:rPr>
              <a:t>· 定制化需求推动产品深化，形成差异化竞争优势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7272000"/>
            <a:ext cx="5346000" cy="288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6000" y="7272000"/>
            <a:ext cx="5346000" cy="288000"/>
          </a:xfrm>
          <a:prstGeom prst="rect">
            <a:avLst/>
          </a:prstGeom>
          <a:solidFill>
            <a:srgbClr val="0D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73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AACC"/>
                </a:solidFill>
                <a:latin typeface="Microsoft YaHei"/>
              </a:rPr>
              <a:t>携手共赢，共启口腔新局 — 期待与各位共同开创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